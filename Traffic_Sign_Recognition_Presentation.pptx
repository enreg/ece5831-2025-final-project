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Traffic Sign Recognition via Transfer Learning on GTSRB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Report (Dec 2025)</a:t>
            </a:r>
          </a:p>
          <a:p>
            <a:r>
              <a:t>Anurag Chaudhary</a:t>
            </a:r>
          </a:p>
          <a:p>
            <a:r>
              <a:t>ECE 5831-02 Pattern Recognition and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Task: Classify 43 traffic sign categories (e.g., speed limits, warning signs).</a:t>
            </a:r>
          </a:p>
          <a:p>
            <a:pPr>
              <a:defRPr sz="2000"/>
            </a:pPr>
            <a:r>
              <a:t>Key Challenges:</a:t>
            </a:r>
          </a:p>
          <a:p>
            <a:pPr>
              <a:defRPr sz="2000"/>
            </a:pPr>
            <a:r>
              <a:t>   - Real-world variability: Lighting, motion blur, occlusion.</a:t>
            </a:r>
          </a:p>
          <a:p>
            <a:pPr>
              <a:defRPr sz="2000"/>
            </a:pPr>
            <a:r>
              <a:t>   - Class imbalance and visually similar categories.</a:t>
            </a:r>
          </a:p>
          <a:p>
            <a:pPr>
              <a:defRPr sz="2000"/>
            </a:pPr>
            <a:r>
              <a:t>   - Practical constraints: Latency and model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Build a reproducible end-to-end PyTorch training pipeline.</a:t>
            </a:r>
          </a:p>
          <a:p>
            <a:pPr>
              <a:defRPr sz="2000"/>
            </a:pPr>
            <a:r>
              <a:t>Leverage Transfer Learning from ImageNet (MobileNetV3, ResNet50).</a:t>
            </a:r>
          </a:p>
          <a:p>
            <a:pPr>
              <a:defRPr sz="2000"/>
            </a:pPr>
            <a:r>
              <a:t>Evaluate beyond accuracy:</a:t>
            </a:r>
          </a:p>
          <a:p>
            <a:pPr>
              <a:defRPr sz="2000"/>
            </a:pPr>
            <a:r>
              <a:t>   - Model Reliability (Calibration/ECE).</a:t>
            </a:r>
          </a:p>
          <a:p>
            <a:pPr>
              <a:defRPr sz="2000"/>
            </a:pPr>
            <a:r>
              <a:t>   - Interpretability (Grad-CAM).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GTSRB Benchmark: Standard dataset with curated real-world images.</a:t>
            </a:r>
          </a:p>
          <a:p>
            <a:pPr>
              <a:defRPr sz="2000"/>
            </a:pPr>
            <a:r>
              <a:t>Transfer Learning: Efficient convergence for limited data.</a:t>
            </a:r>
          </a:p>
          <a:p>
            <a:pPr>
              <a:defRPr sz="2000"/>
            </a:pPr>
            <a:r>
              <a:t>   - MobileNetV3: Optimized for mobile/edge inference.</a:t>
            </a:r>
          </a:p>
          <a:p>
            <a:pPr>
              <a:defRPr sz="2000"/>
            </a:pPr>
            <a:r>
              <a:t>Regularization: MixUp and CutMix to improve generalization.</a:t>
            </a:r>
          </a:p>
          <a:p>
            <a:pPr>
              <a:defRPr sz="2000"/>
            </a:pPr>
            <a:r>
              <a:t>Interpretability: Grad-CAM for visual saliency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Dataset: torchvision.datasets.GTSRB.</a:t>
            </a:r>
          </a:p>
          <a:p>
            <a:pPr>
              <a:defRPr sz="2000"/>
            </a:pPr>
            <a:r>
              <a:t>Split: 90% Training, 10% Validation (fixed seed).</a:t>
            </a:r>
          </a:p>
          <a:p>
            <a:pPr>
              <a:defRPr sz="2000"/>
            </a:pPr>
            <a:r>
              <a:t>Preprocessing: Resized to 96x96 resolution.</a:t>
            </a:r>
          </a:p>
          <a:p>
            <a:pPr>
              <a:defRPr sz="2000"/>
            </a:pPr>
            <a:r>
              <a:t>Augmentation (Train): Random crop, rotation, color jitter, blur.</a:t>
            </a:r>
          </a:p>
          <a:p>
            <a:pPr>
              <a:defRPr sz="2000"/>
            </a:pPr>
            <a:r>
              <a:t>Preprocessing (Eval): Deterministic resizing, ImageNet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Model &amp; Recipe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Backbones: MobileNetV3-Small (default) or ResNet50.</a:t>
            </a:r>
          </a:p>
          <a:p>
            <a:pPr>
              <a:defRPr sz="2000"/>
            </a:pPr>
            <a:r>
              <a:t>Head: Replaced with 43-class linear layer.</a:t>
            </a:r>
          </a:p>
          <a:p>
            <a:pPr>
              <a:defRPr sz="2000"/>
            </a:pPr>
            <a:r>
              <a:t>Two-Stage Training Recipe:</a:t>
            </a:r>
          </a:p>
          <a:p>
            <a:pPr>
              <a:defRPr sz="2000"/>
            </a:pPr>
            <a:r>
              <a:t>   1. Head Warm-up: Freeze backbone, train only classifier.</a:t>
            </a:r>
          </a:p>
          <a:p>
            <a:pPr>
              <a:defRPr sz="2000"/>
            </a:pPr>
            <a:r>
              <a:t>   2. Fine-tuning: Unfreeze last blocks, train end-to-end.</a:t>
            </a:r>
          </a:p>
          <a:p>
            <a:pPr>
              <a:defRPr sz="2000"/>
            </a:pPr>
            <a:r>
              <a:t>Optimization: AdamW, OneCycle/Cosine LR, Label Smoothing.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Status: Short runs conducted to validate pipeline (not fully converged).</a:t>
            </a:r>
          </a:p>
          <a:p>
            <a:pPr>
              <a:defRPr sz="2000"/>
            </a:pPr>
            <a:r>
              <a:t>Configuration: MobileNetV3-Small, 96x96, 1 epoch warm-up + 1 epoch fine-tune.</a:t>
            </a:r>
          </a:p>
          <a:p>
            <a:pPr>
              <a:defRPr sz="2000"/>
            </a:pPr>
            <a:r>
              <a:t>Quantitative Metrics:</a:t>
            </a:r>
          </a:p>
          <a:p>
            <a:pPr>
              <a:defRPr sz="2000"/>
            </a:pPr>
            <a:r>
              <a:t>   - Validation Accuracy: ~71.4%</a:t>
            </a:r>
          </a:p>
          <a:p>
            <a:pPr>
              <a:defRPr sz="2000"/>
            </a:pPr>
            <a:r>
              <a:t>   - Test Accuracy: ~58.0%</a:t>
            </a:r>
          </a:p>
          <a:p>
            <a:pPr>
              <a:defRPr sz="2000"/>
            </a:pPr>
            <a:r>
              <a:t>   - Macro-F1 (Val): 0.653</a:t>
            </a:r>
          </a:p>
          <a:p>
            <a:pPr>
              <a:defRPr sz="2000"/>
            </a:pPr>
            <a:r>
              <a:t>   - Expected Calibration Error (Val): 0.171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Confusion Matrix: Visualizes performance across all 43 classes.</a:t>
            </a:r>
          </a:p>
          <a:p>
            <a:pPr>
              <a:defRPr sz="2000"/>
            </a:pPr>
            <a:r>
              <a:t>Reliability Diagram: Assesses confidence vs. empirical accuracy.</a:t>
            </a:r>
          </a:p>
          <a:p>
            <a:pPr>
              <a:defRPr sz="2000"/>
            </a:pPr>
            <a:r>
              <a:t>Grad-CAM: Verifies model focus on sign content vs. background.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Pipeline Success: End-to-end workflow functions correctly.</a:t>
            </a:r>
          </a:p>
          <a:p>
            <a:pPr>
              <a:defRPr sz="2000"/>
            </a:pPr>
            <a:r>
              <a:t>Artifact Generation: Metrics, plots, and overlays are produced.</a:t>
            </a:r>
          </a:p>
          <a:p>
            <a:pPr>
              <a:defRPr sz="2000"/>
            </a:pPr>
            <a:r>
              <a:t>Performance Gap: Accuracy is below state-of-the-art (&gt;97%) due to minimal training epochs used in demonstration runs.</a:t>
            </a:r>
          </a:p>
          <a:p>
            <a:pPr>
              <a:defRPr sz="2000"/>
            </a:pPr>
            <a:r>
              <a:t>Areas for Tuning: Resolution, unfreeze depth, augmentation strength.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Train to Convergence: Increase epochs (e.g., 5 warm-up + 20 fine-tune).</a:t>
            </a:r>
          </a:p>
          <a:p>
            <a:pPr>
              <a:defRPr sz="2000"/>
            </a:pPr>
            <a:r>
              <a:t>2. Ablation Studies: Compare MobileNetV3 vs. ResNet50.</a:t>
            </a:r>
          </a:p>
          <a:p>
            <a:pPr>
              <a:defRPr sz="2000"/>
            </a:pPr>
            <a:r>
              <a:t>3. Address Class Imbalance: Implement weighted sampling.</a:t>
            </a:r>
          </a:p>
          <a:p>
            <a:pPr>
              <a:defRPr sz="2000"/>
            </a:pPr>
            <a:r>
              <a:t>4. Robustness Checks: Test under synthetic blur/brightness shifts.</a:t>
            </a:r>
          </a:p>
          <a:p>
            <a:pPr>
              <a:defRPr sz="2000"/>
            </a:pPr>
            <a:r>
              <a:t>5. Interpretability Analysis: Categorize errors using Grad-CAM.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